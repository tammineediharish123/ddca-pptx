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12192000"/>
  <p:embeddedFontLst>
    <p:embeddedFont>
      <p:font typeface="Dela Gothic One" panose="020B0604020202020204" charset="-128"/>
      <p:regular r:id="rId13"/>
    </p:embeddedFont>
    <p:embeddedFont>
      <p:font typeface="Arial Rounded MT Bold" panose="020F0704030504030204" pitchFamily="34" charset="0"/>
      <p:regular r:id="rId14"/>
    </p:embeddedFont>
    <p:embeddedFont>
      <p:font typeface="DM Sans" pitchFamily="2" charset="0"/>
      <p:regular r:id="rId15"/>
    </p:embeddedFont>
    <p:embeddedFont>
      <p:font typeface="DM Sans Bold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601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277119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Working Principle of Timers &amp; Splitters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2000431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hardware counts time, generates events, and captures snapshots — with a practical VHDL stopwatch example.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C7E2B-09ED-1244-5F8E-DE46A9A69559}"/>
              </a:ext>
            </a:extLst>
          </p:cNvPr>
          <p:cNvSpPr txBox="1"/>
          <p:nvPr/>
        </p:nvSpPr>
        <p:spPr>
          <a:xfrm>
            <a:off x="6200274" y="27913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AF3CF-57A3-21EA-3DBC-F21190C9A6AE}"/>
              </a:ext>
            </a:extLst>
          </p:cNvPr>
          <p:cNvSpPr txBox="1"/>
          <p:nvPr/>
        </p:nvSpPr>
        <p:spPr>
          <a:xfrm>
            <a:off x="7708233" y="4692679"/>
            <a:ext cx="42431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Group Members :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HARISH - 2620080071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NEERAJ - 2620080074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SNEHA- 2620080080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SANTHOSHI - 2620080081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TANUSH - 26200800120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661988"/>
            <a:ext cx="6355993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Timers Exist: Software Delays Aren't Time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2714526"/>
            <a:ext cx="6355993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 loops are unreliable for measuring time — interrupts and CPU load introduce unpredictable delays. A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hardware timer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 dedicated counter driven by a stable clock, so you know precisely when a fixed interval has elapsed, regardless of what the CPU is doing.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03794" y="4073327"/>
            <a:ext cx="6355993" cy="2122686"/>
          </a:xfrm>
          <a:prstGeom prst="roundRect">
            <a:avLst>
              <a:gd name="adj" fmla="val 35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5210144" y="4079677"/>
            <a:ext cx="6343293" cy="1054993"/>
          </a:xfrm>
          <a:custGeom>
            <a:avLst/>
            <a:gdLst/>
            <a:ahLst/>
            <a:cxnLst/>
            <a:rect l="l" t="t" r="r" b="b"/>
            <a:pathLst>
              <a:path w="6343293" h="1054993">
                <a:moveTo>
                  <a:pt x="63192" y="0"/>
                </a:moveTo>
                <a:lnTo>
                  <a:pt x="6280101" y="0"/>
                </a:lnTo>
                <a:arcTo wR="63192" hR="63193" stAng="16200000" swAng="5400000"/>
                <a:lnTo>
                  <a:pt x="6343293" y="1054993"/>
                </a:lnTo>
                <a:lnTo>
                  <a:pt x="0" y="1054993"/>
                </a:lnTo>
                <a:lnTo>
                  <a:pt x="0" y="63193"/>
                </a:lnTo>
                <a:arcTo wR="63192" hR="63193" stAng="10800000" swAng="5400000"/>
                <a:close/>
              </a:path>
            </a:pathLst>
          </a:custGeom>
          <a:solidFill>
            <a:srgbClr val="740B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390618" y="4260155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Software Delay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390618" y="4665266"/>
            <a:ext cx="598234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Unreliable under interrupts or heavy CPU load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10144" y="5134670"/>
            <a:ext cx="6343293" cy="1054993"/>
          </a:xfrm>
          <a:custGeom>
            <a:avLst/>
            <a:gdLst/>
            <a:ahLst/>
            <a:cxnLst/>
            <a:rect l="l" t="t" r="r" b="b"/>
            <a:pathLst>
              <a:path w="6343293" h="1054993">
                <a:moveTo>
                  <a:pt x="0" y="0"/>
                </a:moveTo>
                <a:lnTo>
                  <a:pt x="6343293" y="0"/>
                </a:lnTo>
                <a:lnTo>
                  <a:pt x="6343293" y="991800"/>
                </a:lnTo>
                <a:arcTo wR="63192" hR="63193" stAng="0" swAng="5400000"/>
                <a:lnTo>
                  <a:pt x="63192" y="1054993"/>
                </a:lnTo>
                <a:arcTo wR="63192" hR="63193" stAng="5400000" swAng="5400000"/>
                <a:lnTo>
                  <a:pt x="0" y="0"/>
                </a:lnTo>
                <a:close/>
              </a:path>
            </a:pathLst>
          </a:custGeom>
          <a:solidFill>
            <a:srgbClr val="740B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5210144" y="5134670"/>
            <a:ext cx="6343293" cy="25400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390618" y="5315148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Hardware Timer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390618" y="5720259"/>
            <a:ext cx="598234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Dedicated counter, independent of CPU activity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1770"/>
            <a:ext cx="10927878" cy="10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Core Loop: Clock → Count → Compare → Event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812" y="1827411"/>
            <a:ext cx="8498072" cy="3889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3818" y="4784985"/>
            <a:ext cx="1595446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Event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343120" y="4784985"/>
            <a:ext cx="1595445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Compare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343349" y="4784985"/>
            <a:ext cx="1595445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Counter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299868" y="4784985"/>
            <a:ext cx="1595445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Clock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31908" y="5872262"/>
            <a:ext cx="10927878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timer accumulates ticks from a chosen clock source. When the count reaches a preset threshold — or overflows — hardware raises an event flag, allowing your program to respond precisely. Designers trade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resolution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against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range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selecting the clock frequency and prescaler.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805656"/>
            <a:ext cx="6948909" cy="393779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27687" y="910233"/>
            <a:ext cx="1526343" cy="274241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135932" y="964307"/>
            <a:ext cx="191943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SPLITTER CONCEPT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027687" y="1256605"/>
            <a:ext cx="3538350" cy="2375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One Time Source, Multiple Views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8027687" y="3812778"/>
            <a:ext cx="35383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splitter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lets you freeze a displayed value while the internal time generator keeps counting. Conceptually: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5149652"/>
            <a:ext cx="5373652" cy="11057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9380" y="5355530"/>
            <a:ext cx="48603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time_gen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939380" y="5760641"/>
            <a:ext cx="486030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Continuously updates counter value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6035" y="5149652"/>
            <a:ext cx="5373752" cy="11057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3506" y="5355530"/>
            <a:ext cx="48604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diload (split toggle)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493506" y="5760641"/>
            <a:ext cx="486040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low,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DI stops loading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new values — display freezes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02642"/>
            <a:ext cx="6355993" cy="167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555 Timer: Time from Charge &amp; Discharge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1908" y="2410817"/>
            <a:ext cx="6355993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classic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555 timer IC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produces precise timing intervals using an external capacitor and resistors. Internal comparators monitor the capacitor voltage, and an RS flip-flop switches the output state when thresholds are crossed.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3376315"/>
            <a:ext cx="338526" cy="3385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8768" y="3434457"/>
            <a:ext cx="5819133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Charge Phase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168768" y="3808016"/>
            <a:ext cx="5819133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Capacitor voltage rises through R until it hits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⅔ VCC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(upper threshold)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4387652"/>
            <a:ext cx="338526" cy="3385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768" y="4445794"/>
            <a:ext cx="5819133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Discharge Phase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168768" y="4819352"/>
            <a:ext cx="5819133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Flip-flop toggles; capacitor discharges until it hits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⅓ VCC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(lower threshold)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5661323"/>
            <a:ext cx="338526" cy="3385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68768" y="5719465"/>
            <a:ext cx="5819133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Output Switch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168768" y="6093023"/>
            <a:ext cx="5819133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RS flip-flop drives output HIGH or LOW based on comparator states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245"/>
            <a:ext cx="1092787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555 Modes: Direct Mapping to Timer Behaviours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951409"/>
            <a:ext cx="5346963" cy="53470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9173" y="2891334"/>
            <a:ext cx="5956548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mode maps to a distinct timer behaviour: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219173" y="3066058"/>
            <a:ext cx="215795" cy="215801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251319" y="3079254"/>
            <a:ext cx="1514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85867" y="3098998"/>
            <a:ext cx="508027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Monostable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85867" y="3307655"/>
            <a:ext cx="5080270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pulse on trigger — ideal for one-shot delays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219173" y="3527028"/>
            <a:ext cx="215795" cy="215801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251319" y="3540224"/>
            <a:ext cx="1514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85867" y="3559969"/>
            <a:ext cx="508027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Astable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85867" y="3768626"/>
            <a:ext cx="5080270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oscillation — RC cycles repeat indefinitely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219173" y="3987998"/>
            <a:ext cx="215795" cy="215801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251319" y="4001195"/>
            <a:ext cx="1514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85867" y="4020939"/>
            <a:ext cx="508027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Bistable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85867" y="4229596"/>
            <a:ext cx="5080270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Latch behaviour — output holds until reset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95412"/>
            <a:ext cx="6355993" cy="10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Practical Example: VHDL Stopwatch with Split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31908" y="1841897"/>
            <a:ext cx="6355993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VHDL stopwatch demonstrates both principles working together — a running time generator and a display latch for split timing.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08" y="2471241"/>
            <a:ext cx="789861" cy="9478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9977" y="2629198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time_gen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559977" y="2971800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Counters generate elapsed time digits continuously from clkin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08" y="3419078"/>
            <a:ext cx="789861" cy="9478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59977" y="3577034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BTN(1) — Pause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559977" y="3919637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Toggles clkin to pause time_gen internally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08" y="4366915"/>
            <a:ext cx="789861" cy="94783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59977" y="4524871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BTN(2) — Split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559977" y="4867473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Drives diload low; DI stops loading, freezing the display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908" y="5314752"/>
            <a:ext cx="789861" cy="94783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59977" y="5472708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Result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559977" y="5815310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Visible split captured while time keeps running — timer + splitter in action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Rounded MT Bold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38728" cy="324612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929384" y="1965960"/>
            <a:ext cx="777240" cy="77724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077060" y="2113636"/>
            <a:ext cx="481888" cy="481888"/>
          </a:xfrm>
          <a:prstGeom prst="ellipse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04034" y="2222061"/>
            <a:ext cx="27940" cy="13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19500000">
            <a:off x="2318004" y="2340610"/>
            <a:ext cx="192755" cy="279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Rounded MT Bold"/>
              </a:rPr>
              <a:t>Timers Control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29900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B0B0B0"/>
                </a:solidFill>
                <a:latin typeface="Arial"/>
              </a:rPr>
              <a:t>They manage precise timing and trigger actions at exact moments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554480"/>
            <a:ext cx="3538728" cy="324612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42432" y="1965960"/>
            <a:ext cx="777240" cy="77724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11794" y="2303982"/>
            <a:ext cx="101196" cy="1011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12973" y="2147369"/>
            <a:ext cx="101196" cy="1011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12973" y="2460595"/>
            <a:ext cx="101196" cy="1011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4568" y="301752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Rounded MT Bold"/>
              </a:rPr>
              <a:t>Splitters Control 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611880"/>
            <a:ext cx="29900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B0B0B0"/>
                </a:solidFill>
                <a:latin typeface="Arial"/>
              </a:rPr>
              <a:t>They distribute signals to multiple destinations simultaneously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1554480"/>
            <a:ext cx="3538728" cy="324612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55480" y="1965960"/>
            <a:ext cx="777240" cy="77724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55480" y="1965960"/>
            <a:ext cx="77724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01752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Rounded MT Bold"/>
              </a:rPr>
              <a:t>Together They Enable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3611880"/>
            <a:ext cx="29900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B0B0B0"/>
                </a:solidFill>
                <a:latin typeface="Arial"/>
              </a:rPr>
              <a:t>Combined, they create synchronized multi-output systems for real-world applications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11094720" cy="1051560"/>
          </a:xfrm>
          <a:prstGeom prst="roundRect">
            <a:avLst>
              <a:gd name="adj" fmla="val 6000"/>
            </a:avLst>
          </a:prstGeom>
          <a:solidFill>
            <a:srgbClr val="180808"/>
          </a:solidFill>
          <a:ln w="1270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257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71C1C"/>
                </a:solidFill>
                <a:latin typeface="Arial Rounded MT Bold"/>
              </a:rPr>
              <a:t>CONCLUSION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1045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Arial"/>
              </a:rPr>
              <a:t>Understanding timers and splitters is fundamental to modern electronic control systems and automation.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Arial"/>
              </a:rPr>
              <a:t>TIMERS &amp; SPLITTERS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600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0B0B0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25510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/>
          <p:nvPr/>
        </p:nvSpPr>
        <p:spPr>
          <a:xfrm>
            <a:off x="631908" y="365760"/>
            <a:ext cx="10928184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buNone/>
            </a:pPr>
            <a:r>
              <a:rPr lang="en-US" sz="2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Working Principle: Bit Splitter &amp; Timer/Counter</a:t>
            </a:r>
            <a:endParaRPr lang="en-US" sz="2600" dirty="0">
              <a:solidFill>
                <a:srgbClr val="FAEBEB"/>
              </a:solidFill>
              <a:latin typeface="Dela Gothic One" pitchFamily="34" charset="0"/>
            </a:endParaRPr>
          </a:p>
        </p:txBody>
      </p:sp>
      <p:pic>
        <p:nvPicPr>
          <p:cNvPr id="4" name="Diagram Image" descr="Bit Splitter and Clock-Driven Timer working principl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019" y="1500000"/>
            <a:ext cx="7413963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10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1D0931-D26F-C1AD-8DC3-13AF9CB73AB4}"/>
              </a:ext>
            </a:extLst>
          </p:cNvPr>
          <p:cNvSpPr txBox="1"/>
          <p:nvPr/>
        </p:nvSpPr>
        <p:spPr>
          <a:xfrm>
            <a:off x="2390267" y="1868904"/>
            <a:ext cx="70505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THANK YOU</a:t>
            </a:r>
            <a:endParaRPr lang="en-IN" sz="8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510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525</Words>
  <Application>Microsoft Office PowerPoint</Application>
  <PresentationFormat>Widescreen</PresentationFormat>
  <Paragraphs>77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DM Sans</vt:lpstr>
      <vt:lpstr>Arial Rounded MT Bold</vt:lpstr>
      <vt:lpstr>DM Sans Bold</vt:lpstr>
      <vt:lpstr>Dela Gothic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Harish 21</cp:lastModifiedBy>
  <cp:revision>7</cp:revision>
  <dcterms:created xsi:type="dcterms:W3CDTF">2026-08-25T14:03:47Z</dcterms:created>
  <dcterms:modified xsi:type="dcterms:W3CDTF">2026-08-29T05:49:46Z</dcterms:modified>
</cp:coreProperties>
</file>